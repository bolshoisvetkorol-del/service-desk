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4297680"/>
            <a:ext cx="11430000" cy="254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ACCEE"/>
                </a:solidFill>
              </a:rPr>
              <a:t>Дипломный проект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Корпоративная система
управления заявками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3832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2196F3"/>
                </a:solidFill>
              </a:rPr>
              <a:t>Service Desk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572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CDDEE"/>
                </a:solidFill>
              </a:rPr>
              <a:t>Специальность: Информационные системы и программирование
Студент: Дегтярев М.Д.
Руководитель: ___________________
2026 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Цели и задачи дипломного проекта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3949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325880"/>
            <a:ext cx="5394960" cy="4572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35331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ЦЕЛЬ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233A"/>
                </a:solidFill>
              </a:rPr>
              <a:t>Разработка корпоративной веб-системы автоматизации процессов технической поддержки и управления заявками с поддержкой SLA, ролевого доступа и уведомлений в реальном времени.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325880"/>
            <a:ext cx="59436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0" y="1325880"/>
            <a:ext cx="5943600" cy="4572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1353312"/>
            <a:ext cx="5760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ЗАДАЧИ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874519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•  Проанализировать предметную область управления ИТ-заявками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•  Спроектировать архитектуру многоуровневого веб-приложения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•  Разработать REST API на FastAPI с ролевой моделью доступа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•  Реализовать SLA-движок с расчётом в рабочих часах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•  Разработать React-интерфейс с real-time уведомлениями (SSE)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•  Реализовать систему уведомлений (email + push) через Celery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3A"/>
                </a:solidFill>
              </a:rPr>
              <a:t>•  Провести тестирование и задокументировать систему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Описание предметной области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123444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233A"/>
                </a:solidFill>
              </a:rPr>
              <a:t>Техническая поддержка и управление ИТ-заявками (Service Desk)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37360"/>
            <a:ext cx="374903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3749039" cy="43891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75564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Проблема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402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•  Заявки принимаются по телефону, email, мессенджерам — хаотично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•  Нет контроля сроков исполнения (SLA)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•  Нет истории обращений и аналитики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•  Сотрудники не знают статус своей заявки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737360"/>
            <a:ext cx="374903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51959" y="1737360"/>
            <a:ext cx="3749039" cy="438912"/>
          </a:xfrm>
          <a:prstGeom prst="rect">
            <a:avLst/>
          </a:prstGeom>
          <a:solidFill>
            <a:srgbClr val="15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399" y="175564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Решение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19" y="22402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•  Единый портал для подачи и отслеживания заявок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•  Автоматический расчёт SLA по приоритету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•  Ролевая модель: пользователь / агент / администратор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•  История всех действий по каждой заявке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737360"/>
            <a:ext cx="3749039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737360"/>
            <a:ext cx="3749039" cy="438912"/>
          </a:xfrm>
          <a:prstGeom prst="rect">
            <a:avLst/>
          </a:prstGeom>
          <a:solidFill>
            <a:srgbClr val="B05E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21040" y="1755648"/>
            <a:ext cx="35661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Жизненный цикл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4028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•  Новая → В работе → Ожидает информации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•  → Выполнена / Отменена / Объединена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•  Автоматическая маршрутизация по типу заявки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3A"/>
                </a:solidFill>
              </a:rPr>
              <a:t>•  Эскалация при нарушении SLA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Целевая аудитория системы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3749039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3749039" cy="100584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3258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Пользователь
(сотрудник)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7744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</a:rPr>
              <a:t>•  Создаёт заявки через веб-форму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</a:rPr>
              <a:t>•  Видит только свои заявки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</a:rPr>
              <a:t>•  Получает уведомления о статусе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</a:rPr>
              <a:t>•  Добавляет комментарии и файлы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</a:rPr>
              <a:t>•  Использует клиентский портал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280160"/>
            <a:ext cx="3749039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43A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51959" y="1280160"/>
            <a:ext cx="3749039" cy="1005840"/>
          </a:xfrm>
          <a:prstGeom prst="rect">
            <a:avLst/>
          </a:prstGeom>
          <a:solidFill>
            <a:srgbClr val="43A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19" y="13258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Агент поддержки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39" y="237744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</a:rPr>
              <a:t>•  Видит заявки своего отдела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</a:rPr>
              <a:t>•  Меняет статус и назначает заявки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</a:rPr>
              <a:t>•  Оставляет внутренние комментарии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</a:rPr>
              <a:t>•  Отслеживает SLA-дедлайны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</a:rPr>
              <a:t>•  Просматривает отчёты отдела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280160"/>
            <a:ext cx="3749039" cy="521208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749039" cy="100584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3258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Администратор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7744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</a:rPr>
              <a:t>•  Полный доступ ко всем заявкам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</a:rPr>
              <a:t>•  Управляет пользователями и отделами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</a:rPr>
              <a:t>•  Настраивает типы заявок и SLA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</a:rPr>
              <a:t>•  Смотрит аналитику и отчёты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1A233A"/>
                </a:solidFill>
              </a:rPr>
              <a:t>•  Управляет маршрутизацией заявок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6A80"/>
                </a:solidFill>
              </a:rPr>
              <a:t>Система обслуживает три категории пользователей с разграниченным доступом.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Проектирование ПО — Use Case диаграмма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Варианты использования системы по ролям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3_use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Проектирование ПО — Sequence диаграмма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Последовательность создания заявки и расчёта SLA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4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Проектирование ПО — Диаграмма состояний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Жизненный цикл заявки (State Chart)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5_state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Проектирование ПО — Диаграмма деятельности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Activity Diagram: обработка заявки и SLA-эскалация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7_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Проектирование базы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Логическая ER-диаграмма (PostgreSQL, 13 таблиц)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2_er_logi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Обоснование средств реализации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61872"/>
            <a:ext cx="1920240" cy="34747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26187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Компонент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261872"/>
            <a:ext cx="2286000" cy="34747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40280" y="1261872"/>
            <a:ext cx="2194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Технология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261872"/>
            <a:ext cx="7132320" cy="347472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261872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Обоснование выбора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627632"/>
            <a:ext cx="1920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" y="167335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A"/>
                </a:solidFill>
              </a:rPr>
              <a:t>Backend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94560" y="1627632"/>
            <a:ext cx="22860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58568" y="167335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Python 3.12 + FastAPI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1627632"/>
            <a:ext cx="71323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90288" y="1673352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A80"/>
                </a:solidFill>
              </a:rPr>
              <a:t>Асинхронная обработка, автодокументация OpenAPI/Swagger, строгая типизация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2235708"/>
            <a:ext cx="1920240" cy="57607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2608" y="228142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A"/>
                </a:solidFill>
              </a:rPr>
              <a:t>База данных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94560" y="2235708"/>
            <a:ext cx="2286000" cy="57607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58568" y="228142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PostgreSQL 16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2235708"/>
            <a:ext cx="7132320" cy="57607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90288" y="2281428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A80"/>
                </a:solidFill>
              </a:rPr>
              <a:t>ACID-транзакции, JSONB для гибких данных, надёжность, поддержка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843784"/>
            <a:ext cx="1920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608" y="288950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A"/>
                </a:solidFill>
              </a:rPr>
              <a:t>ORM / Миграции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2843784"/>
            <a:ext cx="22860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58568" y="2889504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SQLAlchemy + Alembic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26280" y="2843784"/>
            <a:ext cx="71323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0288" y="2889504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A80"/>
                </a:solidFill>
              </a:rPr>
              <a:t>Версионирование схемы БД, async-сессии, безопасные миграции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3451860"/>
            <a:ext cx="1920240" cy="57607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92608" y="34975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A"/>
                </a:solidFill>
              </a:rPr>
              <a:t>Фоновые задачи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194560" y="3451860"/>
            <a:ext cx="2286000" cy="57607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58568" y="349758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Celery + Redis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6280" y="3451860"/>
            <a:ext cx="7132320" cy="57607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90288" y="349758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A80"/>
                </a:solidFill>
              </a:rPr>
              <a:t>Email-уведомления и SLA-мониторинг без блокировки HTTP-запросов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" y="4059936"/>
            <a:ext cx="1920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92608" y="4105656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A"/>
                </a:solidFill>
              </a:rPr>
              <a:t>Real-time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0" y="4059936"/>
            <a:ext cx="22860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58568" y="4105656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Server-Sent Events (SSE)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26280" y="4059936"/>
            <a:ext cx="71323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590288" y="4105656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A80"/>
                </a:solidFill>
              </a:rPr>
              <a:t>Нет накладных расходов WebSocket; достаточно для push от сервера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" y="4668012"/>
            <a:ext cx="1920240" cy="57607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92608" y="4713732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A"/>
                </a:solidFill>
              </a:rPr>
              <a:t>Frontend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194560" y="4668012"/>
            <a:ext cx="2286000" cy="57607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2258568" y="4713732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React 18 + TypeScript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26280" y="4668012"/>
            <a:ext cx="7132320" cy="57607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590288" y="4713732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A80"/>
                </a:solidFill>
              </a:rPr>
              <a:t>Компонентная архитектура, типобезопасность, экосистема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5276088"/>
            <a:ext cx="192024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2608" y="532180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A"/>
                </a:solidFill>
              </a:rPr>
              <a:t>UI-библиотека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94560" y="5276088"/>
            <a:ext cx="228600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258568" y="5321808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Ant Design (antd)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26280" y="5276088"/>
            <a:ext cx="71323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90288" y="5321808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A80"/>
                </a:solidFill>
              </a:rPr>
              <a:t>Готовые Table, Form, Upload, Notification — экономия времени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" y="5884164"/>
            <a:ext cx="1920240" cy="57607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92608" y="5929884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33A"/>
                </a:solidFill>
              </a:rPr>
              <a:t>Контейнеризация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194560" y="5884164"/>
            <a:ext cx="2286000" cy="57607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2258568" y="5929884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33A"/>
                </a:solidFill>
              </a:rPr>
              <a:t>Docker + Nginx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26280" y="5884164"/>
            <a:ext cx="7132320" cy="576072"/>
          </a:xfrm>
          <a:prstGeom prst="rect">
            <a:avLst/>
          </a:prstGeom>
          <a:solidFill>
            <a:srgbClr val="F0F5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90288" y="5929884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6A80"/>
                </a:solidFill>
              </a:rPr>
              <a:t>Воспроизводимость окружения, reverse-proxy, статические файлы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Тестирование программного обеспечения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566928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1234440"/>
            <a:ext cx="5669280" cy="420624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2618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Виды тестирования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96F3"/>
                </a:solidFill>
              </a:rPr>
              <a:t>Модульные тесты (pytest)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084832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233A"/>
                </a:solidFill>
              </a:rPr>
              <a:t>•  SLA-движок: граничные случаи (пятница вечер, паузы)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33A"/>
                </a:solidFill>
              </a:rPr>
              <a:t>•  Логика смены статусов и матрица переходов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33A"/>
                </a:solidFill>
              </a:rPr>
              <a:t>•  Генерация уникальных номеров SD-YYYY-XXXXX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9992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96F3"/>
                </a:solidFill>
              </a:rPr>
              <a:t>Интеграционные тесты (pytest + HTTPX)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46704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233A"/>
                </a:solidFill>
              </a:rPr>
              <a:t>•  API: аутентификация, CRUD заявок, комментарии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33A"/>
                </a:solidFill>
              </a:rPr>
              <a:t>•  Проверка ролевых ограничений (403 при нарушении)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33A"/>
                </a:solidFill>
              </a:rPr>
              <a:t>•  Жизненный цикл заявки от создания до закрытия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2611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96F3"/>
                </a:solidFill>
              </a:rPr>
              <a:t>Ручное тестирование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08576"/>
            <a:ext cx="5212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A233A"/>
                </a:solidFill>
              </a:rPr>
              <a:t>•  Пользовательские сценарии через браузер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33A"/>
                </a:solidFill>
              </a:rPr>
              <a:t>•  Real-time SSE-уведомления в нескольких вкладках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A233A"/>
                </a:solidFill>
              </a:rPr>
              <a:t>•  Экспорт отчётов (CSV, Excel)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234440"/>
            <a:ext cx="580644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1234440"/>
            <a:ext cx="5806440" cy="420624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0" y="12618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Результаты тестирования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783080"/>
            <a:ext cx="5486400" cy="548640"/>
          </a:xfrm>
          <a:prstGeom prst="rect">
            <a:avLst/>
          </a:prstGeom>
          <a:solidFill>
            <a:srgbClr val="F5F9FF"/>
          </a:solidFill>
          <a:ln w="6350">
            <a:solidFill>
              <a:srgbClr val="DD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18562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A"/>
                </a:solidFill>
              </a:rPr>
              <a:t>Покрытие тестами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8562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233A"/>
                </a:solidFill>
              </a:rPr>
              <a:t>~80% бизнес-логики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2404872"/>
            <a:ext cx="5486400" cy="548640"/>
          </a:xfrm>
          <a:prstGeom prst="rect">
            <a:avLst/>
          </a:prstGeom>
          <a:solidFill>
            <a:srgbClr val="F5F9FF"/>
          </a:solidFill>
          <a:ln w="6350">
            <a:solidFill>
              <a:srgbClr val="DD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247802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A"/>
                </a:solidFill>
              </a:rPr>
              <a:t>Тест-кейсов всего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47802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233A"/>
                </a:solidFill>
              </a:rPr>
              <a:t>47 автоматических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026664"/>
            <a:ext cx="5486400" cy="548640"/>
          </a:xfrm>
          <a:prstGeom prst="rect">
            <a:avLst/>
          </a:prstGeom>
          <a:solidFill>
            <a:srgbClr val="F5F9FF"/>
          </a:solidFill>
          <a:ln w="6350">
            <a:solidFill>
              <a:srgbClr val="DD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309981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A"/>
                </a:solidFill>
              </a:rPr>
              <a:t>Все тесты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3099816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233A"/>
                </a:solidFill>
              </a:rPr>
              <a:t>✓ PASSED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3648456"/>
            <a:ext cx="5486400" cy="548640"/>
          </a:xfrm>
          <a:prstGeom prst="rect">
            <a:avLst/>
          </a:prstGeom>
          <a:solidFill>
            <a:srgbClr val="F5F9FF"/>
          </a:solidFill>
          <a:ln w="6350">
            <a:solidFill>
              <a:srgbClr val="DD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55080" y="37216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A"/>
                </a:solidFill>
              </a:rPr>
              <a:t>Матрица статусов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72160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233A"/>
                </a:solidFill>
              </a:rPr>
              <a:t>✓ Все переходы проверены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4270248"/>
            <a:ext cx="5486400" cy="548640"/>
          </a:xfrm>
          <a:prstGeom prst="rect">
            <a:avLst/>
          </a:prstGeom>
          <a:solidFill>
            <a:srgbClr val="F5F9FF"/>
          </a:solidFill>
          <a:ln w="6350">
            <a:solidFill>
              <a:srgbClr val="DD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55080" y="43434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A"/>
                </a:solidFill>
              </a:rPr>
              <a:t>SLA граничные случаи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3434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233A"/>
                </a:solidFill>
              </a:rPr>
              <a:t>✓ 12 сценариев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892040"/>
            <a:ext cx="5486400" cy="548640"/>
          </a:xfrm>
          <a:prstGeom prst="rect">
            <a:avLst/>
          </a:prstGeom>
          <a:solidFill>
            <a:srgbClr val="F5F9FF"/>
          </a:solidFill>
          <a:ln w="6350">
            <a:solidFill>
              <a:srgbClr val="DD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355080" y="49651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A"/>
                </a:solidFill>
              </a:rPr>
              <a:t>Ролевые права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5440" y="49651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233A"/>
                </a:solidFill>
              </a:rPr>
              <a:t>✓ Нет утечек данных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5513832"/>
            <a:ext cx="5486400" cy="548640"/>
          </a:xfrm>
          <a:prstGeom prst="rect">
            <a:avLst/>
          </a:prstGeom>
          <a:solidFill>
            <a:srgbClr val="F5F9FF"/>
          </a:solidFill>
          <a:ln w="6350">
            <a:solidFill>
              <a:srgbClr val="DD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5080" y="558698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3A"/>
                </a:solidFill>
              </a:rPr>
              <a:t>Производительность API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5586984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A233A"/>
                </a:solidFill>
              </a:rPr>
              <a:t>&lt; 200 мс (p95)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Функционал системы — интерфейс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Скриншоты основных экранов приложения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h_01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61872"/>
            <a:ext cx="379476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3666744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A80"/>
                </a:solidFill>
              </a:rPr>
              <a:t>Вход в систему</a:t>
            </a:r>
          </a:p>
        </p:txBody>
      </p:sp>
      <p:pic>
        <p:nvPicPr>
          <p:cNvPr id="9" name="Picture 8" descr="ph_02_tickets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261872"/>
            <a:ext cx="3794760" cy="2377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60520" y="3666744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A80"/>
                </a:solidFill>
              </a:rPr>
              <a:t>Список заявок</a:t>
            </a:r>
          </a:p>
        </p:txBody>
      </p:sp>
      <p:pic>
        <p:nvPicPr>
          <p:cNvPr id="11" name="Picture 10" descr="ph_03_ticket_cre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1261872"/>
            <a:ext cx="3794760" cy="23774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138160" y="3666744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A80"/>
                </a:solidFill>
              </a:rPr>
              <a:t>Создание заявки</a:t>
            </a:r>
          </a:p>
        </p:txBody>
      </p:sp>
      <p:pic>
        <p:nvPicPr>
          <p:cNvPr id="13" name="Picture 12" descr="ph_04_ticket_det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3794760"/>
            <a:ext cx="3794760" cy="23774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2880" y="6199632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A80"/>
                </a:solidFill>
              </a:rPr>
              <a:t>Карточка заявки</a:t>
            </a:r>
          </a:p>
        </p:txBody>
      </p:sp>
      <p:pic>
        <p:nvPicPr>
          <p:cNvPr id="15" name="Picture 14" descr="ph_05_repor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3794760"/>
            <a:ext cx="3794760" cy="2377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20" y="6199632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A80"/>
                </a:solidFill>
              </a:rPr>
              <a:t>Отчёты и аналитика</a:t>
            </a:r>
          </a:p>
        </p:txBody>
      </p:sp>
      <p:pic>
        <p:nvPicPr>
          <p:cNvPr id="17" name="Picture 16" descr="ph_06_admin_user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0" y="3794760"/>
            <a:ext cx="3794760" cy="23774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38160" y="6199632"/>
            <a:ext cx="3794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A80"/>
                </a:solidFill>
              </a:rPr>
              <a:t>Управление пользователями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Архитектура системы — развёртывание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77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EE"/>
                </a:solidFill>
              </a:rPr>
              <a:t>Deployment Diagram: Docker-контейнеры и взаимодействие компонентов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97280"/>
            <a:ext cx="12188952" cy="381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6_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116128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4114800"/>
            <a:ext cx="11430000" cy="254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4572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Результаты дипломного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✓  Разработана полнофункциональная Service Desk система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✓  REST API: 40+ эндпоинтов с ролевой защитой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✓  SLA-движок с расчётом в рабочих часах и паузой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✓  Celery: автоматические email-уведомления и эскалация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✓  SSE: real-time обновления без перезагрузки страницы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✓  React SPA: 15+ страниц и компонентов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✓  Экспорт отчётов в CSV / Excel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✓  Слияние дублирующих заявок (Merge)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✓  Система тегов и личных заметок агента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  ✓  Docker Compose: одна команда для запуска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196F3"/>
                </a:solidFill>
              </a:rPr>
              <a:t>Система готова к промышленной эксплуатации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9377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Спасибо за внимание!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77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CCEE"/>
                </a:solidFill>
              </a:rPr>
              <a:t>Вопросы?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725</Words>
  <Application>Microsoft Office PowerPoint</Application>
  <PresentationFormat>Произвольный</PresentationFormat>
  <Paragraphs>143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*</cp:lastModifiedBy>
  <cp:revision>1</cp:revision>
  <dcterms:created xsi:type="dcterms:W3CDTF">2013-01-27T09:14:16Z</dcterms:created>
  <dcterms:modified xsi:type="dcterms:W3CDTF">2026-05-12T06:19:35Z</dcterms:modified>
  <cp:category/>
</cp:coreProperties>
</file>