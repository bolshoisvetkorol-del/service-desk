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4297680"/>
            <a:ext cx="11430000" cy="25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CCEE"/>
                </a:solidFill>
              </a:rPr>
              <a:t>Дипломный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Корпоративная система
управления заявками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2196F3"/>
                </a:solidFill>
              </a:rPr>
              <a:t>Service Desk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7315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CDDEE"/>
                </a:solidFill>
              </a:rPr>
              <a:t>Специальность</a:t>
            </a:r>
            <a:r>
              <a:rPr sz="1500" b="0" i="0" dirty="0">
                <a:solidFill>
                  <a:srgbClr val="CCDDEE"/>
                </a:solidFill>
              </a:rPr>
              <a:t>: </a:t>
            </a:r>
            <a:r>
              <a:rPr sz="1500" b="0" i="0" dirty="0" err="1">
                <a:solidFill>
                  <a:srgbClr val="CCDDEE"/>
                </a:solidFill>
              </a:rPr>
              <a:t>Информационные</a:t>
            </a:r>
            <a:r>
              <a:rPr sz="1500" b="0" i="0" dirty="0">
                <a:solidFill>
                  <a:srgbClr val="CCDDEE"/>
                </a:solidFill>
              </a:rPr>
              <a:t> </a:t>
            </a:r>
            <a:r>
              <a:rPr sz="1500" b="0" i="0" dirty="0" err="1">
                <a:solidFill>
                  <a:srgbClr val="CCDDEE"/>
                </a:solidFill>
              </a:rPr>
              <a:t>системы</a:t>
            </a:r>
            <a:r>
              <a:rPr sz="1500" b="0" i="0" dirty="0">
                <a:solidFill>
                  <a:srgbClr val="CCDDEE"/>
                </a:solidFill>
              </a:rPr>
              <a:t> и </a:t>
            </a:r>
            <a:r>
              <a:rPr sz="1500" b="0" i="0" dirty="0" err="1">
                <a:solidFill>
                  <a:srgbClr val="CCDDEE"/>
                </a:solidFill>
              </a:rPr>
              <a:t>программирование</a:t>
            </a:r>
            <a:r>
              <a:rPr sz="1500" b="0" i="0" dirty="0">
                <a:solidFill>
                  <a:srgbClr val="CCDDEE"/>
                </a:solidFill>
              </a:rPr>
              <a:t>
</a:t>
            </a:r>
            <a:r>
              <a:rPr sz="1500" b="0" i="0" dirty="0" err="1">
                <a:solidFill>
                  <a:srgbClr val="CCDDEE"/>
                </a:solidFill>
              </a:rPr>
              <a:t>Студент</a:t>
            </a:r>
            <a:r>
              <a:rPr sz="1500" b="0" i="0" dirty="0">
                <a:solidFill>
                  <a:srgbClr val="CCDDEE"/>
                </a:solidFill>
              </a:rPr>
              <a:t>: </a:t>
            </a:r>
            <a:r>
              <a:rPr sz="1500" b="0" i="0" dirty="0" err="1">
                <a:solidFill>
                  <a:srgbClr val="CCDDEE"/>
                </a:solidFill>
              </a:rPr>
              <a:t>Дегтярев</a:t>
            </a:r>
            <a:r>
              <a:rPr sz="1500" b="0" i="0" dirty="0">
                <a:solidFill>
                  <a:srgbClr val="CCDDEE"/>
                </a:solidFill>
              </a:rPr>
              <a:t> М.Д.
</a:t>
            </a:r>
            <a:r>
              <a:rPr sz="1500" b="0" i="0" dirty="0" err="1">
                <a:solidFill>
                  <a:srgbClr val="CCDDEE"/>
                </a:solidFill>
              </a:rPr>
              <a:t>Руководитель</a:t>
            </a:r>
            <a:r>
              <a:rPr sz="1500" b="0" i="0" dirty="0">
                <a:solidFill>
                  <a:srgbClr val="CCDDEE"/>
                </a:solidFill>
              </a:rPr>
              <a:t>: </a:t>
            </a:r>
            <a:r>
              <a:rPr lang="ru-RU" sz="1500" b="0" i="0" dirty="0" smtClean="0">
                <a:solidFill>
                  <a:srgbClr val="CCDDEE"/>
                </a:solidFill>
              </a:rPr>
              <a:t>Тараканова А.Д.</a:t>
            </a:r>
            <a:r>
              <a:rPr sz="1500" b="0" i="0" dirty="0">
                <a:solidFill>
                  <a:srgbClr val="CCDDEE"/>
                </a:solidFill>
              </a:rPr>
              <a:t>
2026 г.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Цели и задачи дипломного проекта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39496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5394960" cy="457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5331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ЦЕЛЬ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33A"/>
                </a:solidFill>
              </a:rPr>
              <a:t>Разработка корпоративной веб-системы автоматизации процессов технической поддержки и управления заявками с поддержкой SLA, ролевого доступа и уведомлений в реальном времени.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25880"/>
            <a:ext cx="594360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0" y="1325880"/>
            <a:ext cx="5943600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1353312"/>
            <a:ext cx="5760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ЗАДАЧИ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Проанализировать предметную область управления ИТ-заявками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Спроектировать архитектуру многоуровневого веб-приложения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Разработать REST API на FastAPI с ролевой моделью доступа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Реализовать SLA-движок с расчётом в рабочих часах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Разработать React-интерфейс с real-time уведомлениями (SSE)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Реализовать систему уведомлений (email + push) через Celery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•  Провести тестирование и задокументировать систему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Описание предметной области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33A"/>
                </a:solidFill>
              </a:rPr>
              <a:t>Техническая поддержка и управление ИТ-заявками (Service Desk)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3749039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3749039" cy="43891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7556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Заявки принимаются по телефону, email, мессенджерам — хаотично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Нет контроля сроков исполнения (SLA)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Нет истории обращений и аналитики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Сотрудники не знают статус своей заявки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737360"/>
            <a:ext cx="3749039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59" y="1737360"/>
            <a:ext cx="3749039" cy="438912"/>
          </a:xfrm>
          <a:prstGeom prst="rect">
            <a:avLst/>
          </a:prstGeom>
          <a:solidFill>
            <a:srgbClr val="15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399" y="17556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Решение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Единый портал для подачи и отслеживания заявок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Автоматический расчёт SLA по приоритету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Ролевая модель: пользователь / агент / администратор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История всех действий по каждой заявке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737360"/>
            <a:ext cx="3749039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737360"/>
            <a:ext cx="3749039" cy="438912"/>
          </a:xfrm>
          <a:prstGeom prst="rect">
            <a:avLst/>
          </a:prstGeom>
          <a:solidFill>
            <a:srgbClr val="B0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7556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Жизненный цикл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Новая → В работе → Ожидает информации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→ Выполнена / Отменена / Объединена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Автоматическая маршрутизация по типу заявки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•  Эскалация при нарушении SLA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Целевая аудитория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3749039" cy="5212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3749039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Пользователь
(сотрудник)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Создаёт заявки через веб-форму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Видит только свои заявки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Получает уведомления о статусе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Добавляет комментарии и файлы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Использует клиентский портал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280160"/>
            <a:ext cx="3749039" cy="5212080"/>
          </a:xfrm>
          <a:prstGeom prst="rect">
            <a:avLst/>
          </a:prstGeom>
          <a:solidFill>
            <a:srgbClr val="FFFFFF"/>
          </a:solidFill>
          <a:ln w="254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59" y="1280160"/>
            <a:ext cx="3749039" cy="10058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19" y="13258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Агент поддержки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237744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Видит заявки своего отдела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Меняет статус и назначает заявки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Оставляет внутренние комментарии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Отслеживает SLA-дедлайны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Просматривает отчёты отдела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80160"/>
            <a:ext cx="3749039" cy="5212080"/>
          </a:xfrm>
          <a:prstGeom prst="rect">
            <a:avLst/>
          </a:prstGeom>
          <a:solidFill>
            <a:srgbClr val="FFFFFF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280160"/>
            <a:ext cx="3749039" cy="10058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3258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Администратор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7744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Полный доступ ко всем заявкам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Управляет пользователями и отделами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Настраивает типы заявок и SLA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Смотрит аналитику и отчёты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A233A"/>
                </a:solidFill>
              </a:rPr>
              <a:t>•  Управляет маршрутизацией заявок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6A80"/>
                </a:solidFill>
              </a:rPr>
              <a:t>Система обслуживает три категории пользователей с разграниченным доступом.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Проектирование ПО — Use Case диаграмма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Варианты использования системы по ролям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3_usecase.png"/>
          <p:cNvPicPr>
            <a:picLocks noChangeAspect="1"/>
          </p:cNvPicPr>
          <p:nvPr/>
        </p:nvPicPr>
        <p:blipFill rotWithShape="1">
          <a:blip r:embed="rId2"/>
          <a:srcRect t="9446"/>
          <a:stretch/>
        </p:blipFill>
        <p:spPr>
          <a:xfrm>
            <a:off x="365760" y="594804"/>
            <a:ext cx="11521440" cy="62631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Проектирование ПО — Sequence диаграмма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Последовательность создания заявки и расчёта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4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Проектирование ПО — Диаграмма состояний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Жизненный цикл заявки (State Chart)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5_state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Проектирование ПО — Диаграмма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Activity Diagram: обработка заявки и SLA-эскалация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7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Проектирование базы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Логическая ER-диаграмма (PostgreSQL, 13 таблиц)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2_er_log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Обоснование средств реализации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61872"/>
            <a:ext cx="192024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Компонент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1261872"/>
            <a:ext cx="228600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40280" y="12618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Технология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261872"/>
            <a:ext cx="713232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261872"/>
            <a:ext cx="7040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Обоснование выбора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627632"/>
            <a:ext cx="1920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" y="16733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Backend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1627632"/>
            <a:ext cx="22860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58568" y="16733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Python 3.12 + FastAPI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627632"/>
            <a:ext cx="71323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0288" y="1673352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Асинхронная обработка, автодокументация OpenAPI/Swagger, строгая типизация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235708"/>
            <a:ext cx="192024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" y="228142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База данных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2235708"/>
            <a:ext cx="228600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58568" y="228142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PostgreSQL 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2235708"/>
            <a:ext cx="713232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90288" y="2281428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ACID-транзакции, JSONB для гибких данных, надёжность, поддержка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843784"/>
            <a:ext cx="1920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2608" y="288950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ORM / Миграции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2843784"/>
            <a:ext cx="22860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58568" y="2889504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SQLAlchemy + Alembic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2843784"/>
            <a:ext cx="71323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0288" y="2889504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Версионирование схемы БД, async-сессии, безопасные миграции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451860"/>
            <a:ext cx="192024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975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Фоновые задачи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94560" y="3451860"/>
            <a:ext cx="228600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58568" y="349758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Celery + Redis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3451860"/>
            <a:ext cx="713232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90288" y="3497580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Email-уведомления и SLA-мониторинг без блокировки HTTP-запросов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4059936"/>
            <a:ext cx="1920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2608" y="410565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Real-time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94560" y="4059936"/>
            <a:ext cx="22860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58568" y="410565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Server-Sent Events (SSE)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4059936"/>
            <a:ext cx="71323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90288" y="4105656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Нет накладных расходов WebSocket; достаточно для push от сервера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4668012"/>
            <a:ext cx="192024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2608" y="471373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Frontend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94560" y="4668012"/>
            <a:ext cx="228600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58568" y="47137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React 18 + TypeScript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26280" y="4668012"/>
            <a:ext cx="713232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90288" y="4713732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Компонентная архитектура, типобезопасность, экосистема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5276088"/>
            <a:ext cx="1920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2608" y="532180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UI-библиотека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94560" y="5276088"/>
            <a:ext cx="22860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258568" y="532180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Ant Design (antd)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26280" y="5276088"/>
            <a:ext cx="71323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90288" y="5321808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Готовые Table, Form, Upload, Notification — экономия времени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5884164"/>
            <a:ext cx="192024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92608" y="592988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Контейнеризация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194560" y="5884164"/>
            <a:ext cx="228600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258568" y="5929884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Docker + Nginx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5884164"/>
            <a:ext cx="7132320" cy="57607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90288" y="5929884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A80"/>
                </a:solidFill>
              </a:rPr>
              <a:t>Воспроизводимость окружения, reverse-proxy, статические файлы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Тестирование программного обеспечения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34440"/>
            <a:ext cx="566928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234440"/>
            <a:ext cx="5669280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Виды тестирования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Модульные тесты (pytest)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84832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SLA-движок: граничные случаи (пятница вечер, паузы)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Логика смены статусов и матрица переходов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Генерация уникальных номеров SD-YYYY-XXXXX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992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Интеграционные тесты (pytest + HTTPX)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46704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API: аутентификация, CRUD заявок, комментарии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Проверка ролевых ограничений (403 при нарушении)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Жизненный цикл заявки от создания до закрытия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611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Ручное тестирование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08576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Пользовательские сценарии через браузер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Real-time SSE-уведомления в нескольких вкладках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33A"/>
                </a:solidFill>
              </a:rPr>
              <a:t>•  Экспорт отчётов (CSV, Excel)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34440"/>
            <a:ext cx="580644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26480" y="1234440"/>
            <a:ext cx="580644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12618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Результаты тестирования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783080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18562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Покрытие тестами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8562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~80% бизнес-логики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404872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Тест-кейсов всего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47802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47 автоматических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026664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309981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Все тесты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099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✓ PASSED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48456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37216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Матрица статусов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7216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✓ Все переходы проверены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270248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43434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SLA граничные случаи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✓ 12 сценариев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892040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55080" y="49651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Ролевые права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9651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✓ Нет утечек данных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513832"/>
            <a:ext cx="548640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80" y="558698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A"/>
                </a:solidFill>
              </a:rPr>
              <a:t>Производительность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5869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233A"/>
                </a:solidFill>
              </a:rPr>
              <a:t>&lt; 200 мс (p95)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Функционал системы —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Скриншоты основных экранов приложения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3666744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Вход в систему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666744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Список заявок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666744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Создание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6199632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Карточка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199632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Отчёты и аналитика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199632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A80"/>
                </a:solidFill>
              </a:rPr>
              <a:t>Управление пользователями</a:t>
            </a:r>
          </a:p>
        </p:txBody>
      </p:sp>
      <p:pic>
        <p:nvPicPr>
          <p:cNvPr id="19" name="Рисунок 18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270217"/>
            <a:ext cx="4209615" cy="2487967"/>
          </a:xfrm>
          <a:prstGeom prst="rect">
            <a:avLst/>
          </a:prstGeom>
        </p:spPr>
      </p:pic>
      <p:pic>
        <p:nvPicPr>
          <p:cNvPr id="20" name="Рисунок 19"/>
          <p:cNvPicPr/>
          <p:nvPr/>
        </p:nvPicPr>
        <p:blipFill>
          <a:blip r:embed="rId3"/>
          <a:stretch>
            <a:fillRect/>
          </a:stretch>
        </p:blipFill>
        <p:spPr>
          <a:xfrm>
            <a:off x="4180051" y="1316433"/>
            <a:ext cx="3987673" cy="2441751"/>
          </a:xfrm>
          <a:prstGeom prst="rect">
            <a:avLst/>
          </a:prstGeom>
        </p:spPr>
      </p:pic>
      <p:pic>
        <p:nvPicPr>
          <p:cNvPr id="21" name="Рисунок 20"/>
          <p:cNvPicPr/>
          <p:nvPr/>
        </p:nvPicPr>
        <p:blipFill>
          <a:blip r:embed="rId4"/>
          <a:stretch>
            <a:fillRect/>
          </a:stretch>
        </p:blipFill>
        <p:spPr>
          <a:xfrm>
            <a:off x="8206163" y="1338796"/>
            <a:ext cx="3944349" cy="2419388"/>
          </a:xfrm>
          <a:prstGeom prst="rect">
            <a:avLst/>
          </a:prstGeom>
        </p:spPr>
      </p:pic>
      <p:pic>
        <p:nvPicPr>
          <p:cNvPr id="22" name="Рисунок 21"/>
          <p:cNvPicPr/>
          <p:nvPr/>
        </p:nvPicPr>
        <p:blipFill>
          <a:blip r:embed="rId5"/>
          <a:stretch>
            <a:fillRect/>
          </a:stretch>
        </p:blipFill>
        <p:spPr>
          <a:xfrm>
            <a:off x="233393" y="3893021"/>
            <a:ext cx="3872263" cy="2306612"/>
          </a:xfrm>
          <a:prstGeom prst="rect">
            <a:avLst/>
          </a:prstGeom>
        </p:spPr>
      </p:pic>
      <p:pic>
        <p:nvPicPr>
          <p:cNvPr id="23" name="Рисунок 22"/>
          <p:cNvPicPr/>
          <p:nvPr/>
        </p:nvPicPr>
        <p:blipFill>
          <a:blip r:embed="rId6"/>
          <a:stretch>
            <a:fillRect/>
          </a:stretch>
        </p:blipFill>
        <p:spPr>
          <a:xfrm>
            <a:off x="4180051" y="3941063"/>
            <a:ext cx="3987673" cy="2258569"/>
          </a:xfrm>
          <a:prstGeom prst="rect">
            <a:avLst/>
          </a:prstGeom>
        </p:spPr>
      </p:pic>
      <p:pic>
        <p:nvPicPr>
          <p:cNvPr id="24" name="Рисунок 23"/>
          <p:cNvPicPr/>
          <p:nvPr/>
        </p:nvPicPr>
        <p:blipFill>
          <a:blip r:embed="rId7"/>
          <a:stretch>
            <a:fillRect/>
          </a:stretch>
        </p:blipFill>
        <p:spPr>
          <a:xfrm>
            <a:off x="8242120" y="3986784"/>
            <a:ext cx="3840390" cy="22098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Архитектура системы — развёртывание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Deployment Diagram: Docker-контейнеры и взаимодействие компонентов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0"/>
            <a:ext cx="12188952" cy="381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6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4114800"/>
            <a:ext cx="11430000" cy="25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Результаты дипломного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Разработана полнофункциональная Service Desk система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REST API: 40+ эндпоинтов с ролевой защитой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SLA-движок с расчётом в рабочих часах и паузой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Celery: автоматические email-уведомления и эскалация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SSE: real-time обновления без перезагрузки страницы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React SPA: 15+ страниц и компонентов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Экспорт отчётов в CSV / Excel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Слияние дублирующих заявок (Merge)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Система тегов и личных заметок агента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  ✓  Docker Compose: одна команда для запуска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 err="1">
                <a:solidFill>
                  <a:srgbClr val="2196F3"/>
                </a:solidFill>
              </a:rPr>
              <a:t>Система</a:t>
            </a:r>
            <a:r>
              <a:rPr sz="2200" b="1" i="0" dirty="0">
                <a:solidFill>
                  <a:srgbClr val="2196F3"/>
                </a:solidFill>
              </a:rPr>
              <a:t> </a:t>
            </a:r>
            <a:r>
              <a:rPr sz="2200" b="1" i="0" dirty="0" err="1">
                <a:solidFill>
                  <a:srgbClr val="2196F3"/>
                </a:solidFill>
              </a:rPr>
              <a:t>готова</a:t>
            </a:r>
            <a:r>
              <a:rPr sz="2200" b="1" i="0" dirty="0">
                <a:solidFill>
                  <a:srgbClr val="2196F3"/>
                </a:solidFill>
              </a:rPr>
              <a:t> к </a:t>
            </a:r>
            <a:r>
              <a:rPr sz="2200" b="1" i="0" dirty="0" err="1">
                <a:solidFill>
                  <a:srgbClr val="2196F3"/>
                </a:solidFill>
              </a:rPr>
              <a:t>промышленной</a:t>
            </a:r>
            <a:r>
              <a:rPr sz="2200" b="1" i="0" dirty="0">
                <a:solidFill>
                  <a:srgbClr val="2196F3"/>
                </a:solidFill>
              </a:rPr>
              <a:t> </a:t>
            </a:r>
            <a:r>
              <a:rPr sz="2200" b="1" i="0" dirty="0" err="1">
                <a:solidFill>
                  <a:srgbClr val="2196F3"/>
                </a:solidFill>
              </a:rPr>
              <a:t>эксплуатации</a:t>
            </a:r>
            <a:endParaRPr sz="2200" b="1" i="0" dirty="0">
              <a:solidFill>
                <a:srgbClr val="2196F3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49377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557784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sz="2000" b="0" i="0" dirty="0">
              <a:solidFill>
                <a:srgbClr val="AACCE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719</Words>
  <Application>Microsoft Office PowerPoint</Application>
  <PresentationFormat>Произвольный</PresentationFormat>
  <Paragraphs>141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*</cp:lastModifiedBy>
  <cp:revision>5</cp:revision>
  <dcterms:created xsi:type="dcterms:W3CDTF">2013-01-27T09:14:16Z</dcterms:created>
  <dcterms:modified xsi:type="dcterms:W3CDTF">2026-05-12T09:52:53Z</dcterms:modified>
  <cp:category/>
</cp:coreProperties>
</file>